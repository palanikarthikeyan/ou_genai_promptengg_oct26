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d6f7e9c2-f508-874c-785d-502a8731a775}">
          <p14:sldIdLst>
            <p14:sldId id="257"/>
          </p14:sldIdLst>
        </p14:section>
        <p14:section name="Session 1. Introduction to AI, ML and Generative AI" id="{f2df89e8-e7cf-427f-dfa7-f4fefb4509f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Session 2. Prompt Engineering for Generative AI" id="{5ab2c4aa-18b2-262a-ad82-3ed7134b6d93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ession 3. OCI Generative AI Service" id="{f245b139-e004-4ced-f04c-f3eee6a1c080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Summary" id="{8ae17ec8-309f-faa1-0f86-7a05dcfcc641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1: Building Blocks of Generative AI and Prompt Engineering. Each topic is presented as Definition, then Syntax, then a Simple Example with expected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1: Introduction to AI, ML and Generative AI. Topics: Artificial Intelligence; Vectors; Language AI Models; Relationship Between AI and ML; Machine Learning and its Types; Overview of Generative AI; Generative AI Models. Lab: Lab 1 · Setting Up the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Artificial Intelligence (AI) is the field of building systems that perform tasks needing human-like intelligence: perceiving, reasoning, learning, using language and making decisions.
KEY POINTS: Three eras: rule-based → statistical ML → deep learning / foundation models | All AI in use today is narrow AI (task-specific) | Pattern: Input → Knowledge / Model → Decision → Output
SYNTAX: General pattern.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Artificial Intelligence. Run it live, then ask learners to predict the output before revealing it. Expected output:
True
False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A vector is an ordered list of numbers. In AI, vectors represent words, sentences, images or customers as points in space, so similarity becomes distance.
KEY POINTS: Each number is one dimension (embeddings: 384 – 1,536+) | Cosine similarity: 1 = same direction, 0 = unrelated | Normalised vectors: dot product = cosine
SYNTAX: Key formulas.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Vectors. Run it live, then ask learners to predict the output before revealing it. Expected output:
0.985 0.201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A language model assigns probabilities to sequences of tokens: given the text so far, it predicts the probability of each possible next token. LLMs do this at huge scale.
KEY POINTS: Encoder models → understand (embeddings, classification) | Decoder models → generate (Command A, Llama 3.1) | Generation = predict → sample → append → repeat
SYNTAX: Core idea.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Language AI Models. Run it live, then ask learners to predict the output before revealing it. Expected output:
[('bank', 2), ('loan', 1)]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Machine Learning is a subset of AI where systems learn patterns from data instead of following hand-written rules. Deep learning is a subset of ML; GenAI is built on deep learning.
KEY POINTS: All ML is AI; not all AI is ML | Programming: data + rules → answers | ML: data + answers → rules (a model)
SYNTAX: The hierarchy.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Relationship Between AI and ML. Run it live, then ask learners to predict the output before revealing it. Expected output:
[1 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ML types are defined by the feedback available while learning: supervised (labels), unsupervised (no labels), self-supervised (labels from the data itself) and reinforcement (rewards).
KEY POINTS: LLM pre-training = self-supervised next-token prediction | Chat alignment = RLHF / DPO (preference learning) | Pick metrics by business cost (precision / recall)
SYNTAX: scikit-learn pattern.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Machine Learning and its Types. Run it live, then ask learners to predict the output before revealing it. Expected output:
[1 1 0 0 1]   (cluster numbers are arbitrary)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Generative AI creates new content (text, code, images, audio) by learning patterns in training data and sampling new outputs that follow them.
KEY POINTS: Discriminative: P(label | input); generative: P(content | prompt) | Foundation models are adapted by prompting, RAG or fine-tuning | Risks: hallucination, data leakage, IP, cost
SYNTAX: Application architecture.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Overview of Generative AI. Run it live, then ask learners to predict the output before revealing it. Expected output:
Generative AI is AI that creates new content such as text, images or code
by learning patterns from existing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GenAI model families differ in how they generate: autoregressive Transformers (text, code), diffusion models (images), GANs, VAEs and multimodal models.
KEY POINTS: Text: Cohere Command A, Meta Llama 3.1 / 3.3 / 4 | Images: Stable Diffusion (latent diffusion) | Choose by your own evaluation, cost, privacy, licence
SYNTAX: How each family generates.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Generative AI Models. Run it live, then ask learners to predict the output before revealing it. Expected output:
chat (enterprise)  -&gt; cohere.command-a-03-2025
chat (open)        -&gt; llama3.1:8b
embeddings         -&gt; embed-v4.0
images             -&gt; stable-diffusion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2: Prompt Engineering for Generative AI. Topics: Introduction to Prompt Engineering; Principles, Techniques and Best Practices; K-Shot Prompts; Tokens, Max Tokens, Temperature, Top-K and Top-P; Formatting, Summarizing and Inferring Prompts. Lab: Lab 2 · Getting Started with Prompt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Prompt engineering is designing and testing the full input sent to an LLM (instructions, context, examples, format) so outputs are accurate, consistent, safe and cost-efficient, without changing model weights.
KEY POINTS: The cheapest, fastest lever on output quality | Chat roles: system · user · assistant · tool | Always evaluate prompts on a test set
SYNTAX: 7-part prompt anatomy.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Introduction to Prompt Engineering. Run it live, then ask learners to predict the output before revealing it. Expected output:
- Impact: 7.5% of payments timed out for 89 min
- Cause: DB pool cut from 200 to 20 connections
- Actions: CAB approval, load tests, pool alerts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Principles make any prompt better (clear, specific, context, structure, examples, iterate). Techniques are reusable patterns (zero-shot, role, few-shot, step-by-step, structured output).
KEY POINTS: Delimit data from instructions | Give a fallback: 'If not found, reply X' | Bad → Improved → Production-quality prompt
SYNTAX: Bad → Improved → Production.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Principles, Techniques and Best Practices. Run it live, then ask learners to predict the output before revealing it. Expected output:
Mixed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K-shot (few-shot) prompting puts K worked input→output examples in the prompt before the real input. The model learns the pattern in context; no weights change.
KEY POINTS: K=0 zero-shot · K=1 one-shot · K≥2 few-shot | 3–5 balanced examples usually enough | Include borderline examples; mind label &amp; recency bias
SYNTAX: K-shot template.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K-Shot Prompts. Run it live, then ask learners to predict the output before revealing it. Expected output:
P1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Tokens are the sub-word units LLMs read and write (billing unit). Max tokens caps output length. Temperature, top-k and top-p control how the next token is sampled.
KEY POINTS: 1 token ≈ 4 English characters ≈ 0.75 words | Temperature 0 → near-deterministic; 1.0 → creative | Top-k: K best tokens · Top-p: smallest set with Σp ≥ P
SYNTAX: Parameter syntax.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Tokens, Max Tokens, Temperature, Top-K and Top-P. Run it live, then ask learners to predict the output before revealing it. Expected output:
0.0 Blue. COMPLETE 2
1.0 Teal COMPLETE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Formatting controls output shape; summarizing condenses content for an audience; inferring derives implied attributes (sentiment, emotion, intent, urgency).
KEY POINTS: Specify audience, length, focus, fidelity | Infer several attributes in one JSON call | Use code (not the LLM) for counting and maths
SYNTAX: Prompt patterns.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Formatting, Summarizing and Inferring Prompts. Run it live, then ask learners to predict the output before revealing it. Expected output:
{"sentiment": "negative", "urgency": "high"}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3: OCI Generative AI Service. Topics: Introduction to OCI Generative AI Service; Accessing and Utilizing OCI Generative AI API End-Points; OCI Custom Models, Fine-tuning and Dedicated AI Clusters; Deployment Options; OCI Generative AI Security. Lab: Lab 3 · Prompt Engineering with OCI Generative AI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OCI Generative AI is Oracle Cloud's fully managed service for chat, embedding and rerank models (Cohere, Meta, Google, xAI, OpenAI gpt-oss), with fine-tuning, dedicated hosting and enterprise controls.
KEY POINTS: Serving: on-demand (shared) or dedicated AI clusters | Console Playground · SDK · CLI · REST · OpenAI-compatible API | Prompts and responses are not stored by the service
SYNTAX: Building blocks (OCI-specific).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Introduction to OCI Generative AI Service. Run it live, then ask learners to predict the output before revealing it. Expected output:
cohere.command-a-03-2025 ['CHAT']
meta.llama-3.3-70b-instruct ['CHAT', 'FINE_TUNE']
cohere.embed-v4.0 ['TEXT_EMBEDDINGS']   (varies by region)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OCI exposes regional inference endpoints (Chat, EmbedText, RerankText) called through the OCI SDKs with IAM request signing. Cohere models use the COHERE format; Llama and others use GENERIC.
KEY POINTS: Auth: API key · session token · instance / resource principal | COHERE answer: chat_response.text | GENERIC answer: choices[0] .message.content[0].text
SYNTAX: SDK call syntax.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Accessing and Utilizing OCI Generative AI API End-Points. Run it live, then ask learners to predict the output before revealing it. Expected output:
1. Customer-service assistants for account queries
2. Summarising regulatory circulars
3. Drafting credit memos for underwriters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A custom model is a base model fine-tuned on your data (LoRA on Llama 3.3 70B in 2026). Dedicated AI clusters are GPU units reserved for your tenancy: FINE_TUNING or HOSTING.
KEY POINTS: Training data stays in your Object Storage | Custom model → endpoint on a hosting cluster | Clusters bill per unit-hour: delete after labs
SYNTAX: Workflow.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OCI Custom Models, Fine-tuning and Dedicated AI Clusters. Run it live, then ask learners to predict the output before revealing it. Expected output:
LORA_TRAINING_CONFIG 8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OCI deployment options include on-demand shared serving, dedicated hosting endpoints, private endpoints in your VCN, imported models, and OpenAI-compatible APIs.
KEY POINTS: On-demand: pay per use, prototypes | Dedicated: predictable SLA, custom models | Private endpoint: traffic stays inside your VCN
SYNTAX: Switching serving mode.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Deployment Options. Run it live, then ask learners to predict the output before revealing it. Expected output:
Serving mode: ON_DEMAND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Security layers: IAM policies, private endpoints, encryption (TLS, AES-256, Vault keys), no storage of prompts or sharing with model providers, guardrails (moderation, prompt injection, PII), and audit.
KEY POINTS: Least privilege: 'use' for apps, 'manage' for admins | Redact PII before calling and before logging | Defence in depth: IAM + network + guardrails + validation
SYNTAX: IAM policy syntax. Walk through each line of the syntax before showing the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OCI Generative AI Security. Run it live, then ask learners to predict the output before revealing it. Expected output:
Card [CARD], PAN [PAN]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Y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7D2F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Generative AI and Prompt Engineering  ·  Day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</a:rPr>
              <a:t>Generative AI and Prompt Engineering  ·  Day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A5B4FC"/>
                </a:solidFill>
              </a:rPr>
              <a:t>DAY 1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 of Generative AI and Prompt Engineering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Part 1 · Module 1: Introduction to Generative AI</a:t>
            </a:r>
            <a:endParaRPr lang="en-US" sz="1800" dirty="0"/>
          </a:p>
        </p:txBody>
      </p:sp>
      <p:sp>
        <p:nvSpPr>
          <p:cNvPr id="5" name="legend0-circle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legend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Definition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5074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B4FC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legend1-circle"/>
          <p:cNvSpPr/>
          <p:nvPr/>
        </p:nvSpPr>
        <p:spPr>
          <a:xfrm>
            <a:off x="3429000" y="507492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legend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52056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50792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Syntax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5074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B4F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legend2-circle"/>
          <p:cNvSpPr/>
          <p:nvPr/>
        </p:nvSpPr>
        <p:spPr>
          <a:xfrm>
            <a:off x="6217920" y="507492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4" name="legend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52056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39712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Simple Example</a:t>
            </a:r>
            <a:endParaRPr lang="en-US" sz="1600" dirty="0"/>
          </a:p>
        </p:txBody>
      </p:sp>
      <p:pic>
        <p:nvPicPr>
          <p:cNvPr id="16" name="hero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828800"/>
            <a:ext cx="1828800" cy="1828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Generative AI and Prompt Engineering · 5-Day Programme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Agenda</a:t>
            </a:r>
            <a:endParaRPr lang="en-US" sz="3000" dirty="0"/>
          </a:p>
        </p:txBody>
      </p:sp>
      <p:sp>
        <p:nvSpPr>
          <p:cNvPr id="3" name="agenda-card-0"/>
          <p:cNvSpPr/>
          <p:nvPr/>
        </p:nvSpPr>
        <p:spPr>
          <a:xfrm>
            <a:off x="457200" y="1234440"/>
            <a:ext cx="3575304" cy="498348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4" name="agenda-ic-0-circle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5" name="agenda-ic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5937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Session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AI, ML and Generative AI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31181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1.1  Artificial Intelligence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1.2  Vectors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1.3  Language AI Models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1.4  Relationship Between AI and ML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1.5  Machine Learning and its Types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1.6  Overview of Generative AI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1.7  Generative AI Models</a:t>
            </a:r>
            <a:endParaRPr lang="en-US" sz="1400" dirty="0"/>
          </a:p>
        </p:txBody>
      </p:sp>
      <p:sp>
        <p:nvSpPr>
          <p:cNvPr id="9" name="chip"/>
          <p:cNvSpPr txBox="1"/>
          <p:nvPr/>
        </p:nvSpPr>
        <p:spPr>
          <a:xfrm>
            <a:off x="685800" y="5669280"/>
            <a:ext cx="311810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1 · Setting Up the Environment</a:t>
            </a:r>
            <a:endParaRPr lang="en-US" sz="1100" dirty="0"/>
          </a:p>
        </p:txBody>
      </p:sp>
      <p:sp>
        <p:nvSpPr>
          <p:cNvPr id="10" name="agenda-card-1"/>
          <p:cNvSpPr/>
          <p:nvPr/>
        </p:nvSpPr>
        <p:spPr>
          <a:xfrm>
            <a:off x="4306824" y="1234440"/>
            <a:ext cx="3575304" cy="498348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1" name="agenda-ic-1-circle"/>
          <p:cNvSpPr/>
          <p:nvPr/>
        </p:nvSpPr>
        <p:spPr>
          <a:xfrm>
            <a:off x="4535424" y="1463040"/>
            <a:ext cx="502920" cy="50292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12" name="agenda-ic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83" y="15937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75504" y="146304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Session 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35424" y="21031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for Generative AI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35424" y="3017520"/>
            <a:ext cx="31181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2.1  Introduction to Prompt Engineering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2.2  Principles, Techniques and Best Practices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2.3  K-Shot Prompts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2.4  Tokens, Max Tokens, Temperature, Top-K and Top-P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2.5  Formatting, Summarizing and Inferring Prompts</a:t>
            </a:r>
            <a:endParaRPr lang="en-US" sz="1400" dirty="0"/>
          </a:p>
        </p:txBody>
      </p:sp>
      <p:sp>
        <p:nvSpPr>
          <p:cNvPr id="16" name="chip"/>
          <p:cNvSpPr txBox="1"/>
          <p:nvPr/>
        </p:nvSpPr>
        <p:spPr>
          <a:xfrm>
            <a:off x="4535424" y="5669280"/>
            <a:ext cx="311810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2 · Getting Started with Prompt Engineering</a:t>
            </a:r>
            <a:endParaRPr lang="en-US" sz="1100" dirty="0"/>
          </a:p>
        </p:txBody>
      </p:sp>
      <p:sp>
        <p:nvSpPr>
          <p:cNvPr id="17" name="agenda-card-2"/>
          <p:cNvSpPr/>
          <p:nvPr/>
        </p:nvSpPr>
        <p:spPr>
          <a:xfrm>
            <a:off x="8156448" y="1234440"/>
            <a:ext cx="3575304" cy="498348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8" name="agenda-ic-2-circle"/>
          <p:cNvSpPr/>
          <p:nvPr/>
        </p:nvSpPr>
        <p:spPr>
          <a:xfrm>
            <a:off x="8385048" y="1463040"/>
            <a:ext cx="502920" cy="50292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19" name="agenda-ic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807" y="159379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25128" y="146304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Session 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85048" y="210312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OCI Generative AI Service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385048" y="3017520"/>
            <a:ext cx="31181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3.1  Introduction to OCI Generative AI Service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3.2  Accessing and Utilizing OCI Generative AI API End-Points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3.3  OCI Custom Models, Fine-tuning and Dedicated AI Clusters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3.4  Deployment Options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3.5  OCI Generative AI Security</a:t>
            </a:r>
            <a:endParaRPr lang="en-US" sz="1400" dirty="0"/>
          </a:p>
        </p:txBody>
      </p:sp>
      <p:sp>
        <p:nvSpPr>
          <p:cNvPr id="23" name="chip"/>
          <p:cNvSpPr txBox="1"/>
          <p:nvPr/>
        </p:nvSpPr>
        <p:spPr>
          <a:xfrm>
            <a:off x="8385048" y="5669280"/>
            <a:ext cx="311810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3 · Prompt Engineering with OCI Generative AI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A5B4FC"/>
                </a:solidFill>
              </a:rPr>
              <a:t>SESSION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AI, ML and Generative AI</a:t>
            </a:r>
            <a:endParaRPr lang="en-US" sz="3400" dirty="0"/>
          </a:p>
        </p:txBody>
      </p:sp>
      <p:sp>
        <p:nvSpPr>
          <p:cNvPr id="4" name="chip"/>
          <p:cNvSpPr txBox="1"/>
          <p:nvPr/>
        </p:nvSpPr>
        <p:spPr>
          <a:xfrm>
            <a:off x="640080" y="3749040"/>
            <a:ext cx="48463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1 · Setting Up the Environment</a:t>
            </a:r>
            <a:endParaRPr lang="en-US" sz="1100" dirty="0"/>
          </a:p>
        </p:txBody>
      </p:sp>
      <p:sp>
        <p:nvSpPr>
          <p:cNvPr id="5" name="topics-panel"/>
          <p:cNvSpPr/>
          <p:nvPr/>
        </p:nvSpPr>
        <p:spPr>
          <a:xfrm>
            <a:off x="6309360" y="86868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2A2665"/>
          </a:solidFill>
          <a:ln w="12700">
            <a:solidFill>
              <a:srgbClr val="2A26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097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</a:rPr>
              <a:t>Topics in this session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1.1   Artificial Intelligence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1.2   Vectors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1.3   Language AI Models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1.4   Relationship Between AI and ML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1.5   Machine Learning and its Types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1.6   Overview of Generative AI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1.7   Generative AI 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 Artificial Intelligence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1/7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Artificial Intelligence (AI) is the field of building systems that perform tasks needing human-like intelligence: perceiving, reasoning, learning, using language and making decisions.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eras: rule-based → statistical ML → deep learning / foundation models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AI in use today is narrow AI (task-specific)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Pattern: Input → Knowledge / Model → Decision → Output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General pattern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Rule-based AI : IF &lt;condition&gt; THEN &lt;decision&gt;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Learned AI    : model = train(examples)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prediction = model.predict(new_input)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─► Perception ─► Model ─► Decision ─► Output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▲ feedback (new data) 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 Artificial Intelligence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1/7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072384"/>
          </a:xfrm>
          <a:prstGeom prst="roundRect">
            <a:avLst>
              <a:gd name="adj" fmla="val 238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approve(income_lakh, score):       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rule-based AI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income_lakh &gt;=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(approve(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705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(approve(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4946904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053889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9469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449824"/>
            <a:ext cx="11274552" cy="813816"/>
          </a:xfrm>
          <a:prstGeom prst="roundRect">
            <a:avLst>
              <a:gd name="adj" fmla="val 8989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513832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 Vectors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2/7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vector is an ordered list of numbers. In AI, vectors represent words, sentences, images or customers as points in space, so similarity becomes distance.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number is one dimension (embeddings: 384 – 1,536+)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Cosine similarity: 1 = same direction, 0 = unrelated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Normalised vectors: dot product = cosine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Key formulas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dot(a, b)    = Σ aᵢ·bᵢ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‖a‖          = √(Σ aᵢ²)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cosine(a, b) = dot(a, b) / (‖a‖ · ‖b‖)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np.dot(a, b);  np.linalg.norm(a)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 Vectors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2/7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'reset password'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'forgot login'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np.array([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'quarterly revenue'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=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x, y: x @ y / (np.linalg.norm(x) * np.linalg.norm(y))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(round(cos(a, b),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round(cos(a, c),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0.985 0.201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 Language AI Models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3/7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language model assigns probabilities to sequences of tokens: given the text so far, it predicts the probability of each possible next token. LLMs do this at huge scale.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Encoder models → understand (embeddings, classification)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Decoder models → generate (Command A, Llama 3.1)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Generation = predict → sample → append → repeat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Core idea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P(w1..wn) = P(w1) · P(w2|w1) · … · P(wn|w1..wn-1)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next_token = sample( P(token | previous tokens) 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 Language AI Models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3/7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collections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Counter, defaultdict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'the bank approved the loan . the bank blocked the card .'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 = defaultdict(Counter)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w1, w2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zip(text, text[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nxt[w1][w2] +=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next words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(nxt[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'the'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].most_common(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[('bank', 2), ('loan', 1)]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 Relationship Between AI and ML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4/7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Machine Learning is a subset of AI where systems learn patterns from data instead of following hand-written rules. Deep learning is a subset of ML; GenAI is built on deep learning.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ML is AI; not all AI is ML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Programming: data + rules → answers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ML: data + answers → rules (a model)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The hierarchy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Artificial Intelligence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 Machine Learning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Deep Learning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└── Generative AI (LLMs, diffusion)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Traditional: Data + Rules   ─► Answers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        : Data + Answers ─► Model (rules)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 Relationship Between AI and ML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4/7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LogisticRegression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past outcomes (labels)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LogisticRegression(max_iter=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).fit(X, y)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rules LEARNED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(model.predict([[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0]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 Machine Learning and its Types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5/7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ML types are defined by the feedback available while learning: supervised (labels), unsupervised (no labels), self-supervised (labels from the data itself) and reinforcement (rewards).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pre-training = self-supervised next-token prediction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 alignment = RLHF / DPO (preference learning)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metrics by business cost (precision / recall)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scikit-learn pattern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Supervised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model.predict(X_new)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Unsupervised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KMeans(n_clusters=k).fit_predict(X)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 Machine Learning and its Types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5/7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sklearn.cluster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KMeans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 = [[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= KMeans(n_clusters=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n_init=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random_state=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).fit_predict(spend)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(groups)       </a:t>
            </a:r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customers grouped without labels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1 0 0 1]   (cluster numbers are arbitrary)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 Overview of Generative AI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6/7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Generative AI creates new content (text, code, images, audio) by learning patterns in training data and sampling new outputs that follow them.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Discriminative: P(label | input); generative: P(content | prompt)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Foundation models are adapted by prompting, RAG or fine-tuning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Risks: hallucination, data leakage, IP, cost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Application architecture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 question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 (auth, logging, retrieval)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 builds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system + context + examples + input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◄── parameters (temperature, max_tokens)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─► validation ─► User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 Overview of Generative AI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6/7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072384"/>
          </a:xfrm>
          <a:prstGeom prst="roundRect">
            <a:avLst>
              <a:gd name="adj" fmla="val 238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cohere, os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= cohere.ClientV2(api_key=os.environ[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'COHERE_API_KEY'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co.chat(model=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'command-a-03-2025'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messages=[{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'role'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'Define Generative AI in one line.'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(r.message.content[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4946904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053889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9469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449824"/>
            <a:ext cx="11274552" cy="813816"/>
          </a:xfrm>
          <a:prstGeom prst="roundRect">
            <a:avLst>
              <a:gd name="adj" fmla="val 8989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513832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 is AI that creates new content such as text, images or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learning patterns from existing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 Generative AI Models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7/7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GenAI model families differ in how they generate: autoregressive Transformers (text, code), diffusion models (images), GANs, VAEs and multimodal models.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Text: Cohere Command A, Meta Llama 3.1 / 3.3 / 4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Images: Stable Diffusion (latent diffusion)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by your own evaluation, cost, privacy, licence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How each family generates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     : prompt → [Transformer] → next token → append → repeat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Diffusion : noise  → [denoise × N, guided by text] → image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       : generator ⇄ discriminator (adversarial)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: text → [encoder] → vector  (supporting model)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 Generative AI Models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7/7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2578608"/>
          </a:xfrm>
          <a:prstGeom prst="roundRect">
            <a:avLst>
              <a:gd name="adj" fmla="val 28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MODEL_CATALOGUE =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'chat (enterprise)'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'cohere.command-a-03-2025'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'chat (open)'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'llama3.1:8b'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'embeddings'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'embed-v4.0'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'images'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'stable-diffusion'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task, model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MODEL_CATALOGUE.items():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'{task:&lt;18} -&gt; {model}'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4453128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4560113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453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4956048"/>
            <a:ext cx="11274552" cy="1307592"/>
          </a:xfrm>
          <a:prstGeom prst="roundRect">
            <a:avLst>
              <a:gd name="adj" fmla="val 5594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020056"/>
            <a:ext cx="109270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(enterprise)  -&gt; cohere.command-a-03-2025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(open)        -&gt; llama3.1:8b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        -&gt; embed-v4.0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             -&gt; stable-diffusion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A5B4FC"/>
                </a:solidFill>
              </a:rPr>
              <a:t>SESSION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for Generative AI</a:t>
            </a:r>
            <a:endParaRPr lang="en-US" sz="3400" dirty="0"/>
          </a:p>
        </p:txBody>
      </p:sp>
      <p:sp>
        <p:nvSpPr>
          <p:cNvPr id="4" name="chip"/>
          <p:cNvSpPr txBox="1"/>
          <p:nvPr/>
        </p:nvSpPr>
        <p:spPr>
          <a:xfrm>
            <a:off x="640080" y="3749040"/>
            <a:ext cx="48463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2 · Getting Started with Prompt Engineering</a:t>
            </a:r>
            <a:endParaRPr lang="en-US" sz="1100" dirty="0"/>
          </a:p>
        </p:txBody>
      </p:sp>
      <p:sp>
        <p:nvSpPr>
          <p:cNvPr id="5" name="topics-panel"/>
          <p:cNvSpPr/>
          <p:nvPr/>
        </p:nvSpPr>
        <p:spPr>
          <a:xfrm>
            <a:off x="6309360" y="86868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2A2665"/>
          </a:solidFill>
          <a:ln w="12700">
            <a:solidFill>
              <a:srgbClr val="2A26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097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</a:rPr>
              <a:t>Topics in this session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2.1   Introduction to Prompt Engineering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2.2   Principles, Techniques and Best Practices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2.3   K-Shot Prompts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2.4   Tokens, Max Tokens, Temperature, Top-K and Top-P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2.5   Formatting, Summarizing and Inferring Prompts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Introduction to Prompt Engineering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1/5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 engineering is designing and testing the full input sent to an LLM (instructions, context, examples, format) so outputs are accurate, consistent, safe and cost-efficient, without changing model weights.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cheapest, fastest lever on output quality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 roles: system · user · assistant · tool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evaluate prompts on a test set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7-part prompt anatomy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    You are a &lt;role&gt;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    &lt;what to do&gt;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 &lt;docs&gt; ... &lt;/docs&gt;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   Use only the context. If unknown, say so.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input → output (K-shot)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  Return JSON / table / N bullets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  &lt;user input&gt;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Introduction to Prompt Engineering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1/5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2825496"/>
          </a:xfrm>
          <a:prstGeom prst="roundRect">
            <a:avLst>
              <a:gd name="adj" fmla="val 25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'role'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'system'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'You are a concise IT service-desk analyst.'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'role'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'Summarise for the COO in 3 bullets (Impact, Cause, Actions), 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'max 60 words, using only the report.\n&lt;report&gt;...&lt;/report&gt;'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co.chat(model=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'command-a-03-2025'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messages=messages, temperature=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4700016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4807001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7000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202936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266944"/>
            <a:ext cx="10927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Impact: 7.5% of payments timed out for 89 min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Cause: DB pool cut from 200 to 20 connections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Actions: CAB approval, load tests, pool alerts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Principles, Techniques and Best Practices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2/5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Principles make any prompt better (clear, specific, context, structure, examples, iterate). Techniques are reusable patterns (zero-shot, role, few-shot, step-by-step, structured output).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Delimit data from instructions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a fallback: 'If not found, reply X'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Bad → Improved → Production-quality prompt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Bad → Improved → Production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       : Classify this review.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IMPROVED   : Classify sentiment: Positive, Negative, Neutral.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: System: You classify bank customer feedback.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Labels: Positive | Negative | Neutral | Mixed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Reply with the label only.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&lt;review&gt;{text}&lt;/review&gt;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Principles, Techniques and Best Practices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2/5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"Classify the sentiment. Labels: Positive, Negative, 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"Neutral, Mixed. Reply with the label only.\n"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"&lt;review&gt;Fast app, but it logs me out daily.&lt;/review&gt;"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co.chat(model=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'command-a-03-2025'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temperature=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messages=[{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'role'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prompt}])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(r.message.content[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K-Shot Prompts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3/5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K-shot (few-shot) prompting puts K worked input→output examples in the prompt before the real input. The model learns the pattern in context; no weights change.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K=0 zero-shot · K=1 one-shot · K≥2 few-shot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3–5 balanced examples usually enough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Include borderline examples; mind label &amp; recency bias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K-shot template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&lt;instruction + label definitions&gt;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&lt;example 1&gt;  →  &lt;label 1&gt;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&lt;example 2&gt;  →  &lt;label 2&gt;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(K examples)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&lt;new input&gt;  →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K-Shot Prompts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3/5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shots = [(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'Core banking down for all branches'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'P1'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'VPN drops hourly; reconnect works'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'P2'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'Change my email signature'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'P3'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'Classify ticket priority (P1/P2/P3).\n'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+=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.join(f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'Ticket: {t} -&gt; {p}'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t, p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shots)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+=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'\nTicket: ATMs offline in north region -&gt;'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(chat(prompt, temperature=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max_tokens=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Tokens, Max Tokens, Temperature, Top-K and Top-P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4/5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Tokens are the sub-word units LLMs read and write (billing unit). Max tokens caps output length. Temperature, top-k and top-p control how the next token is sampled.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token ≈ 4 English characters ≈ 0.75 words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Temperature 0 → near-deterministic; 1.0 → creative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Top-k: K best tokens · Top-p: smallest set with Σp ≥ P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Parameter syntax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Cohere v2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co.chat(model=..., messages=...,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temperature=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max_tokens=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seed=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OCI CohereChatRequest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CohereChatRequest(temperature=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top_k=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top_p=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max_tokens=</a:t>
            </a:r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Tokens, Max Tokens, Temperature, Top-K and Top-P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4/5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072384"/>
          </a:xfrm>
          <a:prstGeom prst="roundRect">
            <a:avLst>
              <a:gd name="adj" fmla="val 238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co.chat(model=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'command-a-03-2025'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temperature=t, max_tokens=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messages=[{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'role'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 a colour.'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(t, r.message.content[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].text, r.finish_reason,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r.usage.billed_units.output_tokens)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4946904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053889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94690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449824"/>
            <a:ext cx="11274552" cy="813816"/>
          </a:xfrm>
          <a:prstGeom prst="roundRect">
            <a:avLst>
              <a:gd name="adj" fmla="val 8989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513832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Blue. COMPLETE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Teal COMPLETE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 Formatting, Summarizing and Inferring Prompts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5/5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Formatting controls output shape; summarizing condenses content for an audience; inferring derives implied attributes (sentiment, emotion, intent, urgency).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Specify audience, length, focus, fidelity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Infer several attributes in one JSON call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code (not the LLM) for counting and maths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Prompt patterns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SUMMARIZE: Summarise for &lt;audience&gt; in &lt;N&gt; bullets, max &lt;W&gt; words.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Keep numbers exact. Use only the text.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    : Return JSON {sentiment, emotion, urgency}.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urgency = high if money at risk or account blocked.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  : Output a markdown table | Col1 | Col2 |. Nothing else.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 Formatting, Summarizing and Inferring Prompts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5/5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= {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'type'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'object'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'required'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'sentiment'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'urgency'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'properties'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'sentiment'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'type'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'string'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'enum'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'positive'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'negative'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'mixed'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'urgency'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'type'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'string'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'enum'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'high'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'medium'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'low'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]}}}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co.chat(model=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'command-a-03-2025'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temperature=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'role'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'user'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'Analyse: My KYC is pending 3 weeks, account frozen.'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response_format={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'type'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'json_object'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'json_schema'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schema})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(r.message.content[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].text)</a:t>
            </a:r>
            <a:endParaRPr lang="en-US" sz="14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{"sentiment": "negative", "urgency": "high"}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A5B4FC"/>
                </a:solidFill>
              </a:rPr>
              <a:t>SESSION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OCI Generative AI Service</a:t>
            </a:r>
            <a:endParaRPr lang="en-US" sz="3400" dirty="0"/>
          </a:p>
        </p:txBody>
      </p:sp>
      <p:sp>
        <p:nvSpPr>
          <p:cNvPr id="4" name="chip"/>
          <p:cNvSpPr txBox="1"/>
          <p:nvPr/>
        </p:nvSpPr>
        <p:spPr>
          <a:xfrm>
            <a:off x="640080" y="3749040"/>
            <a:ext cx="48463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3 · Prompt Engineering with OCI Generative AI Models</a:t>
            </a:r>
            <a:endParaRPr lang="en-US" sz="1100" dirty="0"/>
          </a:p>
        </p:txBody>
      </p:sp>
      <p:sp>
        <p:nvSpPr>
          <p:cNvPr id="5" name="topics-panel"/>
          <p:cNvSpPr/>
          <p:nvPr/>
        </p:nvSpPr>
        <p:spPr>
          <a:xfrm>
            <a:off x="6309360" y="86868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2A2665"/>
          </a:solidFill>
          <a:ln w="12700">
            <a:solidFill>
              <a:srgbClr val="2A26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097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</a:rPr>
              <a:t>Topics in this session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3.1   Introduction to OCI Generative AI Service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3.2   Accessing and Utilizing OCI Generative AI API End-Points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3.3   OCI Custom Models, Fine-tuning and Dedicated AI Clusters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3.4   Deployment Options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3.5   OCI Generative AI Security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Introduction to OCI Generative AI Service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1/5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OCI Generative AI is Oracle Cloud's fully managed service for chat, embedding and rerank models (Cohere, Meta, Google, xAI, OpenAI gpt-oss), with fine-tuning, dedicated hosting and enterprise controls.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Serving: on-demand (shared) or dedicated AI clusters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Console Playground · SDK · CLI · REST · OpenAI-compatible API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Prompts and responses are not stored by the service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Building blocks (OCI-specific)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endpoint : inference.generativeai.&lt;region&gt;.oci.oraclecloud.com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IDs       : cohere.command-a-03-2025, meta.llama-3.3-70b-instruct,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cohere.embed-v4.0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         : OnDemandServingMode(model_id=...)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DedicatedServingMode(endpoint_id=...)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             : allow group &lt;g&gt; to use generative-ai-family in compartment &lt;c&gt;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Introduction to OCI Generative AI Service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1/5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2825496"/>
          </a:xfrm>
          <a:prstGeom prst="roundRect">
            <a:avLst>
              <a:gd name="adj" fmla="val 25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oci, os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oci.config.from_file()                     </a:t>
            </a:r>
            <a:pPr indent="0" marL="0">
              <a:buNone/>
            </a:pPr>
            <a:r>
              <a:rPr lang="en-US" sz="16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~/.oci/config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mgmt = oci.generative_ai.GenerativeAiClient(cfg)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mgmt.list_models(compartment_id=os.environ[</a:t>
            </a:r>
            <a:pPr indent="0" marL="0">
              <a:buNone/>
            </a:pPr>
            <a:r>
              <a:rPr lang="en-US" sz="16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'OCI_COMPARTMENT_ID'</a:t>
            </a:r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]).data.items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pPr indent="0" marL="0">
              <a:buNone/>
            </a:pPr>
            <a:r>
              <a:rPr lang="en-US" sz="16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models[:</a:t>
            </a:r>
            <a:pPr indent="0" marL="0">
              <a:buNone/>
            </a:pPr>
            <a:r>
              <a:rPr lang="en-US" sz="16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65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(m.display_name, m.capabilities)</a:t>
            </a:r>
            <a:endParaRPr lang="en-US" sz="1650" dirty="0"/>
          </a:p>
        </p:txBody>
      </p:sp>
      <p:sp>
        <p:nvSpPr>
          <p:cNvPr id="9" name="out-circle"/>
          <p:cNvSpPr/>
          <p:nvPr/>
        </p:nvSpPr>
        <p:spPr>
          <a:xfrm>
            <a:off x="457200" y="4700016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4807001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7000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202936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266944"/>
            <a:ext cx="10927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cohere.command-a-03-2025 ['CHAT']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meta.llama-3.3-70b-instruct ['CHAT', 'FINE_TUNE']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cohere.embed-v4.0 ['TEXT_EMBEDDINGS']   (varies by region)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Accessing and Utilizing OCI Generative AI API End-Points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2/5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OCI exposes regional inference endpoints (Chat, EmbedText, RerankText) called through the OCI SDKs with IAM request signing. Cohere models use the COHERE format; Llama and others use GENERIC.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Auth: API key · session token · instance / resource principal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COHERE answer: chat_response.text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GENERIC answer: choices[0] .message.content[0].text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SDK call syntax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oci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oci.generative_ai_inference.models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oci.generative_ai_inference.GenerativeAiInferenceClient(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oci.config.from_file(), service_endpoint=ENDPOINT)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= M.CohereChatRequest(message=Q, max_tokens=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temperature=</a:t>
            </a:r>
            <a:pPr indent="0" marL="0">
              <a:buNone/>
            </a:pPr>
            <a:r>
              <a:rPr lang="en-US" sz="14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 = M.ChatDetails(compartment_id=CID, chat_request=req,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serving_mode=M.OnDemandServingMode(model_id=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'cohere.command-a-03-2025'</a:t>
            </a:r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client.chat(details)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Accessing and Utilizing OCI Generative AI API End-Points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2/5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2825496"/>
          </a:xfrm>
          <a:prstGeom prst="roundRect">
            <a:avLst>
              <a:gd name="adj" fmla="val 25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= M.CohereChatRequest(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'List 3 GenAI use cases in banking, one line each.'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preamble_override=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'You are a concise solutions architect.'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temperature=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client.chat(M.ChatDetails(compartment_id=CID, chat_request=req,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serving_mode=M.OnDemandServingMode(model_id=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'cohere.command-a-03-2025'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(resp.data.chat_response.text)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4700016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4807001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47000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202936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266944"/>
            <a:ext cx="10927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Customer-service assistants for account queries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Summarising regulatory circulars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Drafting credit memos for underwriters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OCI Custom Models, Fine-tuning and Dedicated AI Clusters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3/5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custom model is a base model fine-tuned on your data (LoRA on Llama 3.3 70B in 2026). Dedicated AI clusters are GPU units reserved for your tenancy: FINE_TUNING or HOSTING.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Training data stays in your Object Storage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 model → endpoint on a hosting cluster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Clusters bill per unit-hour: delete after labs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Workflow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Upload train.jsonl ({"prompt":..., "completion":...}) to Object Storage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Create FINE_TUNING dedicated AI cluster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Create custom model = base model + LoraTrainingConfig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Create HOSTING cluster  →  Endpoint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Call with DedicatedServingMode(endpoint_id=...)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OCI Custom Models, Fine-tuning and Dedicated AI Clusters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3/5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oci.generative_ai.models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G.LoraTrainingConfig(total_training_epochs=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learning_rate=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0.0002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training_batch_size=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lora_r=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lora_alpha=</a:t>
            </a:r>
            <a:pPr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(cfg.training_config_type, cfg.lora_r, cfg.total_training_epochs)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LORA_TRAINING_CONFIG 8 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 Deployment Options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4/5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OCI deployment options include on-demand shared serving, dedicated hosting endpoints, private endpoints in your VCN, imported models, and OpenAI-compatible APIs.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On-demand: pay per use, prototypes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Dedicated: predictable SLA, custom models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Private endpoint: traffic stays inside your VCN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Switching serving mode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 = (M.DedicatedServingMode(endpoint_id=ENDPOINT_OCID)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ENDPOINT_OCID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M.OnDemandServingMode(model_id=MODEL_ID))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 Deployment Options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4/5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ENDPOINT_OCID = os.getenv(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'OCI_ENDPOINT_OCID'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=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'DEDICATED'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ENDPOINT_OCID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'ON_DEMAND'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'Serving mode:'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mode)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 mode: ON_DEMAND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 OCI Generative AI Security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5/5 · Concept</a:t>
            </a:r>
            <a:endParaRPr lang="en-US" sz="1100" dirty="0"/>
          </a:p>
        </p:txBody>
      </p:sp>
      <p:sp>
        <p:nvSpPr>
          <p:cNvPr id="4" name="def-card"/>
          <p:cNvSpPr/>
          <p:nvPr/>
        </p:nvSpPr>
        <p:spPr>
          <a:xfrm>
            <a:off x="457200" y="1143000"/>
            <a:ext cx="11274552" cy="1417320"/>
          </a:xfrm>
          <a:prstGeom prst="roundRect">
            <a:avLst>
              <a:gd name="adj" fmla="val 6452"/>
            </a:avLst>
          </a:prstGeom>
          <a:solidFill>
            <a:srgbClr val="F1ECFD"/>
          </a:solidFill>
          <a:ln w="12700">
            <a:solidFill>
              <a:srgbClr val="F1ECFD"/>
            </a:solidFill>
            <a:prstDash val="solid"/>
          </a:ln>
        </p:spPr>
      </p:sp>
      <p:sp>
        <p:nvSpPr>
          <p:cNvPr id="5" name="def-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6" name="def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566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8D9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0200"/>
            <a:ext cx="10195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Security layers: IAM policies, private endpoints, encryption (TLS, AES-256, Vault keys), no storage of prompts or sharing with model providers, guardrails (moderation, prompt injection, PII), and audit.</a:t>
            </a:r>
            <a:endParaRPr lang="en-US" sz="1500" dirty="0"/>
          </a:p>
        </p:txBody>
      </p:sp>
      <p:sp>
        <p:nvSpPr>
          <p:cNvPr id="9" name="point-0"/>
          <p:cNvSpPr/>
          <p:nvPr/>
        </p:nvSpPr>
        <p:spPr>
          <a:xfrm>
            <a:off x="457200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Least privilege: 'use' for apps, 'manage' for admins</a:t>
            </a:r>
            <a:endParaRPr lang="en-US" sz="1400" dirty="0"/>
          </a:p>
        </p:txBody>
      </p:sp>
      <p:sp>
        <p:nvSpPr>
          <p:cNvPr id="12" name="point-1"/>
          <p:cNvSpPr/>
          <p:nvPr/>
        </p:nvSpPr>
        <p:spPr>
          <a:xfrm>
            <a:off x="4291584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3104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Redact PII before calling and before logging</a:t>
            </a:r>
            <a:endParaRPr lang="en-US" sz="1400" dirty="0"/>
          </a:p>
        </p:txBody>
      </p:sp>
      <p:sp>
        <p:nvSpPr>
          <p:cNvPr id="15" name="point-2"/>
          <p:cNvSpPr/>
          <p:nvPr/>
        </p:nvSpPr>
        <p:spPr>
          <a:xfrm>
            <a:off x="8125968" y="2697480"/>
            <a:ext cx="360578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0560" y="288036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2743200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Defence in depth: IAM + network + guardrails + validation</a:t>
            </a:r>
            <a:endParaRPr lang="en-US" sz="1400" dirty="0"/>
          </a:p>
        </p:txBody>
      </p:sp>
      <p:sp>
        <p:nvSpPr>
          <p:cNvPr id="18" name="syn-circle"/>
          <p:cNvSpPr/>
          <p:nvPr/>
        </p:nvSpPr>
        <p:spPr>
          <a:xfrm>
            <a:off x="457200" y="373075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9" name="syn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3837737"/>
            <a:ext cx="197510" cy="1975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78408" y="37307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</a:rPr>
              <a:t>SYNTAX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IAM policy syntax</a:t>
            </a:r>
            <a:endParaRPr lang="en-US" sz="1300" dirty="0"/>
          </a:p>
        </p:txBody>
      </p:sp>
      <p:sp>
        <p:nvSpPr>
          <p:cNvPr id="21" name="syntax-panel"/>
          <p:cNvSpPr/>
          <p:nvPr/>
        </p:nvSpPr>
        <p:spPr>
          <a:xfrm>
            <a:off x="457200" y="4224528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2" name="syntax-code"/>
          <p:cNvSpPr txBox="1"/>
          <p:nvPr/>
        </p:nvSpPr>
        <p:spPr>
          <a:xfrm>
            <a:off x="640080" y="4315968"/>
            <a:ext cx="10927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group &lt;group&gt; to use generative-ai-chat in compartment &lt;c&gt;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group &lt;admins&gt; to manage generative-ai-family in compartment &lt;c&gt;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dynamic-group &lt;apps&gt; to use generative-ai-family in compartment &lt;c&gt;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 OCI Generative AI Security</a:t>
            </a:r>
            <a:endParaRPr lang="en-US" sz="3000" dirty="0"/>
          </a:p>
        </p:txBody>
      </p:sp>
      <p:sp>
        <p:nvSpPr>
          <p:cNvPr id="3" name="chip"/>
          <p:cNvSpPr txBox="1"/>
          <p:nvPr/>
        </p:nvSpPr>
        <p:spPr>
          <a:xfrm>
            <a:off x="10287000" y="4572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Topic 5/5 · Example</a:t>
            </a:r>
            <a:endParaRPr lang="en-US" sz="1100" dirty="0"/>
          </a:p>
        </p:txBody>
      </p:sp>
      <p:sp>
        <p:nvSpPr>
          <p:cNvPr id="4" name="ex-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5" name="ex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4998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408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</a:rPr>
              <a:t>EXAMPLE</a:t>
            </a:r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</a:rPr>
              <a:t>   ·   Python</a:t>
            </a:r>
            <a:endParaRPr lang="en-US" sz="1300" dirty="0"/>
          </a:p>
        </p:txBody>
      </p:sp>
      <p:sp>
        <p:nvSpPr>
          <p:cNvPr id="7" name="example-panel"/>
          <p:cNvSpPr/>
          <p:nvPr/>
        </p:nvSpPr>
        <p:spPr>
          <a:xfrm>
            <a:off x="457200" y="16459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8" name="example-code"/>
          <p:cNvSpPr txBox="1"/>
          <p:nvPr/>
        </p:nvSpPr>
        <p:spPr>
          <a:xfrm>
            <a:off x="640080" y="1755648"/>
            <a:ext cx="10927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redact(text):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re.sub(r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'\b\d(?:[ -]?\d){12,15}\b'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'[CARD]'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re.sub(r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'\b[A-Z]{5}\d{4}[A-Z]\b'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'[PAN]'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(redact(</a:t>
            </a:r>
            <a:pPr indent="0" marL="0">
              <a:buNone/>
            </a:pPr>
            <a:r>
              <a:rPr lang="en-US" sz="17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'Card 4111 1111 1111 1111, PAN ABCDE1234F'</a:t>
            </a:r>
            <a:pPr indent="0" marL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700" dirty="0"/>
          </a:p>
        </p:txBody>
      </p:sp>
      <p:sp>
        <p:nvSpPr>
          <p:cNvPr id="9" name="out-circle"/>
          <p:cNvSpPr/>
          <p:nvPr/>
        </p:nvSpPr>
        <p:spPr>
          <a:xfrm>
            <a:off x="457200" y="5074920"/>
            <a:ext cx="411480" cy="4114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0" name="out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5181905"/>
            <a:ext cx="197510" cy="197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784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803D"/>
                </a:solidFill>
              </a:rPr>
              <a:t>EXPECTED OUTPUT</a:t>
            </a:r>
            <a:endParaRPr lang="en-US" sz="1300" dirty="0"/>
          </a:p>
        </p:txBody>
      </p:sp>
      <p:sp>
        <p:nvSpPr>
          <p:cNvPr id="12" name="output-panel"/>
          <p:cNvSpPr/>
          <p:nvPr/>
        </p:nvSpPr>
        <p:spPr>
          <a:xfrm>
            <a:off x="457200" y="557784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3" name="output-text"/>
          <p:cNvSpPr txBox="1"/>
          <p:nvPr/>
        </p:nvSpPr>
        <p:spPr>
          <a:xfrm>
            <a:off x="640080" y="5641848"/>
            <a:ext cx="10927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[CARD], PAN [PAN]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A5B4FC"/>
                </a:solidFill>
              </a:rPr>
              <a:t>DAY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pic>
        <p:nvPicPr>
          <p:cNvPr id="4" name="tk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1704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1097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 ⊃ ML ⊃ Deep Learning ⊃ Generative AI</a:t>
            </a:r>
            <a:endParaRPr lang="en-US" sz="1600" dirty="0"/>
          </a:p>
        </p:txBody>
      </p:sp>
      <p:pic>
        <p:nvPicPr>
          <p:cNvPr id="6" name="tk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0" y="20299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Vectors turn meaning into geometry; cosine similarity measures closeness</a:t>
            </a:r>
            <a:endParaRPr lang="en-US" sz="1600" dirty="0"/>
          </a:p>
        </p:txBody>
      </p:sp>
      <p:pic>
        <p:nvPicPr>
          <p:cNvPr id="8" name="tk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35808"/>
            <a:ext cx="384048" cy="384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858000" y="296265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prompt is a specification: role, task, context, rules, examples, format, input</a:t>
            </a:r>
            <a:endParaRPr lang="en-US" sz="1600" dirty="0"/>
          </a:p>
        </p:txBody>
      </p:sp>
      <p:pic>
        <p:nvPicPr>
          <p:cNvPr id="10" name="tk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968496"/>
            <a:ext cx="384048" cy="384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858000" y="389534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Temperature / top-k / top-p control randomness; max tokens caps output</a:t>
            </a:r>
            <a:endParaRPr lang="en-US" sz="1600" dirty="0"/>
          </a:p>
        </p:txBody>
      </p:sp>
      <p:pic>
        <p:nvPicPr>
          <p:cNvPr id="12" name="tk-ic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90118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858000" y="48280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OCI Generative AI: on-demand or dedicated serving, custom models, enterprise security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AI Course">
  <a:themeElements>
    <a:clrScheme name="GenAI Course">
      <a:dk1>
        <a:srgbClr val="1C1B29"/>
      </a:dk1>
      <a:lt1>
        <a:srgbClr val="FFFFFF"/>
      </a:lt1>
      <a:dk2>
        <a:srgbClr val="1E1B4B"/>
      </a:dk2>
      <a:lt2>
        <a:srgbClr val="F3F4F8"/>
      </a:lt2>
      <a:accent1>
        <a:srgbClr val="6D28D9"/>
      </a:accent1>
      <a:accent2>
        <a:srgbClr val="0F766E"/>
      </a:accent2>
      <a:accent3>
        <a:srgbClr val="B45309"/>
      </a:accent3>
      <a:accent4>
        <a:srgbClr val="15803D"/>
      </a:accent4>
      <a:accent5>
        <a:srgbClr val="0369A1"/>
      </a:accent5>
      <a:accent6>
        <a:srgbClr val="BE185D"/>
      </a:accent6>
      <a:hlink>
        <a:srgbClr val="0369A1"/>
      </a:hlink>
      <a:folHlink>
        <a:srgbClr val="6D28D9"/>
      </a:folHlink>
    </a:clrScheme>
    <a:fontScheme name="GenAI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TechTrainerPro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Building Blocks of Generative AI and Prompt Engineering</dc:title>
  <dc:subject>PptxGenJS Presentation</dc:subject>
  <dc:creator>TechTrainerPro</dc:creator>
  <cp:lastModifiedBy>TechTrainerPro</cp:lastModifiedBy>
  <cp:revision>1</cp:revision>
  <dcterms:created xsi:type="dcterms:W3CDTF">2026-10-06T16:45:31Z</dcterms:created>
  <dcterms:modified xsi:type="dcterms:W3CDTF">2026-10-06T16:45:31Z</dcterms:modified>
</cp:coreProperties>
</file>